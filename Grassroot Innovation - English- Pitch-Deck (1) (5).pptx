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D519C-9280-124B-1A6A-1ADEEFAC2472}" v="226" dt="2025-09-11T14:33:41.838"/>
    <p1510:client id="{D526CBEE-FD40-FE6D-4E65-F87780FD6583}" v="95" dt="2025-09-11T14:37:34.008"/>
  </p1510:revLst>
</p1510:revInfo>
</file>

<file path=ppt/tableStyles.xml><?xml version="1.0" encoding="utf-8"?>
<a:tblStyleLst xmlns:a="http://schemas.openxmlformats.org/drawingml/2006/main" def="{E288A1E8-3315-434C-95E9-192D93BFBEEE}">
  <a:tblStyle styleId="{E288A1E8-3315-434C-95E9-192D93BFBE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5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a4aae270d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8a4aae270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a4aae270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8a4aae270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a4aae270d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8a4aae270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a4aae270d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8a4aae270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a4aae270d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8a4aae270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a4aae270d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8a4aae27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a4aae270d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8a4aae270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Char char="•"/>
              <a:defRPr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95959"/>
              </a:buClr>
              <a:buSzPts val="1500"/>
              <a:buChar char="•"/>
              <a:defRPr>
                <a:solidFill>
                  <a:srgbClr val="595959"/>
                </a:solidFill>
              </a:defRPr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95959"/>
              </a:buClr>
              <a:buSzPts val="1350"/>
              <a:buChar char="•"/>
              <a:defRPr>
                <a:solidFill>
                  <a:srgbClr val="595959"/>
                </a:solidFill>
              </a:defRPr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95959"/>
              </a:buClr>
              <a:buSzPts val="1350"/>
              <a:buChar char="•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 rot="10800000" flipH="1">
            <a:off x="0" y="-237847"/>
            <a:ext cx="9144000" cy="42665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2390448" y="-592480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 type="tx">
  <p:cSld name="TITLE_AND_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>
            <a:spLocks noGrp="1"/>
          </p:cNvSpPr>
          <p:nvPr>
            <p:ph type="pic" idx="2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164"/>
              <a:buFont typeface="Calibri"/>
              <a:buNone/>
              <a:defRPr sz="316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None/>
              <a:defRPr sz="1687"/>
            </a:lvl1pPr>
            <a:lvl2pPr marL="914400" lvl="1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None/>
              <a:defRPr sz="1687"/>
            </a:lvl2pPr>
            <a:lvl3pPr marL="1371600" lvl="2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None/>
              <a:defRPr sz="1687"/>
            </a:lvl3pPr>
            <a:lvl4pPr marL="1828800" lvl="3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None/>
              <a:defRPr sz="1687"/>
            </a:lvl4pPr>
            <a:lvl5pPr marL="2286000" lvl="4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None/>
              <a:defRPr sz="1687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1pPr>
            <a:lvl2pPr marL="914400" lvl="1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2pPr>
            <a:lvl3pPr marL="1371600" lvl="2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4pPr>
            <a:lvl5pPr marL="2286000" lvl="4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5pPr>
            <a:lvl6pPr marL="2743200" lvl="5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section">
  <p:cSld name="11_sec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">
  <p:cSld name="6_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mo, Video etc. &quot;special&quot; slides">
  <p:cSld name="1_Demo, Video etc. &quot;special&quot; slide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50"/>
              <a:buFont typeface="Calibri"/>
              <a:buNone/>
              <a:defRPr sz="4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body" idx="2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E9D4"/>
              </a:buClr>
              <a:buSzPts val="7499"/>
              <a:buFont typeface="Arial"/>
              <a:buNone/>
              <a:defRPr sz="7499" b="1" i="1" u="none" strike="noStrike" cap="none">
                <a:solidFill>
                  <a:srgbClr val="FFE9D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  <a:defRPr sz="27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 rot="10800000" flipH="1">
            <a:off x="626821" y="584452"/>
            <a:ext cx="8517179" cy="4571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ctrTitle"/>
          </p:nvPr>
        </p:nvSpPr>
        <p:spPr>
          <a:xfrm>
            <a:off x="1511660" y="1500997"/>
            <a:ext cx="6768752" cy="230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err="1"/>
              <a:t>AgriBloom</a:t>
            </a:r>
            <a:r>
              <a:rPr lang="en-US"/>
              <a:t> 2.0</a:t>
            </a:r>
            <a:br>
              <a:rPr lang="en-US"/>
            </a:br>
            <a:r>
              <a:rPr lang="en-US"/>
              <a:t> </a:t>
            </a:r>
          </a:p>
        </p:txBody>
      </p:sp>
      <p:sp>
        <p:nvSpPr>
          <p:cNvPr id="119" name="Google Shape;119;p20"/>
          <p:cNvSpPr/>
          <p:nvPr/>
        </p:nvSpPr>
        <p:spPr>
          <a:xfrm>
            <a:off x="2477217" y="380768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2771800" y="4437112"/>
            <a:ext cx="4248472" cy="12003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838" y="1425666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755576" y="128186"/>
            <a:ext cx="3257459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1"/>
          </p:nvPr>
        </p:nvSpPr>
        <p:spPr>
          <a:xfrm>
            <a:off x="467550" y="1662850"/>
            <a:ext cx="7776900" cy="21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171450" lvl="0" indent="-1625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•"/>
            </a:pPr>
            <a:r>
              <a:rPr lang="en-US" sz="7800"/>
              <a:t>Name: MD Badruddin</a:t>
            </a:r>
          </a:p>
          <a:p>
            <a:pPr marL="171450" lvl="0" indent="-16256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•"/>
            </a:pPr>
            <a:r>
              <a:rPr lang="en-US" sz="7800"/>
              <a:t>Website/URL: https://github.com/waseem-akram-123/agribloom2.0</a:t>
            </a:r>
            <a:endParaRPr sz="7800"/>
          </a:p>
          <a:p>
            <a:pPr marL="171450" lvl="0" indent="-16256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•"/>
            </a:pPr>
            <a:r>
              <a:rPr lang="en-US" sz="7800"/>
              <a:t>Date of Birth (15/03/2005) </a:t>
            </a:r>
            <a:endParaRPr sz="7800"/>
          </a:p>
          <a:p>
            <a:pPr marL="171450" indent="-162560">
              <a:buSzPct val="100000"/>
            </a:pPr>
            <a:r>
              <a:rPr lang="en-US" sz="7800"/>
              <a:t>Full Address: Near </a:t>
            </a:r>
            <a:r>
              <a:rPr lang="en-US" sz="7800" err="1"/>
              <a:t>kazipura</a:t>
            </a:r>
            <a:r>
              <a:rPr lang="en-US" sz="7800"/>
              <a:t> Masjid </a:t>
            </a:r>
            <a:r>
              <a:rPr lang="en-US" sz="7800" err="1"/>
              <a:t>kazipura</a:t>
            </a:r>
            <a:r>
              <a:rPr lang="en-US" sz="7800"/>
              <a:t> </a:t>
            </a:r>
            <a:r>
              <a:rPr lang="en-US" sz="7800" err="1"/>
              <a:t>Shahbazar</a:t>
            </a:r>
            <a:endParaRPr sz="7800" err="1"/>
          </a:p>
          <a:p>
            <a:pPr marL="171450" indent="-162560">
              <a:buSzPct val="100000"/>
            </a:pPr>
            <a:r>
              <a:rPr lang="en-US" sz="7800"/>
              <a:t>Startup Name: </a:t>
            </a:r>
            <a:r>
              <a:rPr lang="en-US" sz="7800" err="1"/>
              <a:t>AgriBloom</a:t>
            </a:r>
            <a:r>
              <a:rPr lang="en-US" sz="7800"/>
              <a:t> 2.0</a:t>
            </a:r>
            <a:endParaRPr sz="7800" err="1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2146300" y="2768600"/>
            <a:ext cx="3657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622766" y="24630"/>
            <a:ext cx="4461890" cy="52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Educational Background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622766" y="1175200"/>
            <a:ext cx="8053689" cy="5062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Char char="•"/>
            </a:pPr>
            <a:r>
              <a:rPr lang="en-US"/>
              <a:t>Please add more rows if needed</a:t>
            </a: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>
              <a:solidFill>
                <a:schemeClr val="dk1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endParaRPr/>
          </a:p>
        </p:txBody>
      </p:sp>
      <p:graphicFrame>
        <p:nvGraphicFramePr>
          <p:cNvPr id="138" name="Google Shape;138;p22"/>
          <p:cNvGraphicFramePr/>
          <p:nvPr>
            <p:extLst>
              <p:ext uri="{D42A27DB-BD31-4B8C-83A1-F6EECF244321}">
                <p14:modId xmlns:p14="http://schemas.microsoft.com/office/powerpoint/2010/main" val="2388493388"/>
              </p:ext>
            </p:extLst>
          </p:nvPr>
        </p:nvGraphicFramePr>
        <p:xfrm>
          <a:off x="622766" y="980728"/>
          <a:ext cx="7704875" cy="4493210"/>
        </p:xfrm>
        <a:graphic>
          <a:graphicData uri="http://schemas.openxmlformats.org/drawingml/2006/table">
            <a:tbl>
              <a:tblPr firstRow="1" bandRow="1">
                <a:noFill/>
                <a:tableStyleId>{E288A1E8-3315-434C-95E9-192D93BFBEEE}</a:tableStyleId>
              </a:tblPr>
              <a:tblGrid>
                <a:gridCol w="123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School/College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Year of Passing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Distinction/First Class/Second Class…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10th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darul arqam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2021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Distinction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r>
                        <a:rPr lang="en-US" sz="1800" baseline="30000"/>
                        <a:t>th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EEF0FF"/>
                          </a:solidFill>
                          <a:highlight>
                            <a:srgbClr val="1F1F1F"/>
                          </a:highlight>
                          <a:latin typeface="Arial"/>
                          <a:ea typeface="Arial"/>
                          <a:cs typeface="Arial"/>
                        </a:rPr>
                        <a:t>Al Sharay PU College of Science </a:t>
                      </a:r>
                      <a:r>
                        <a:rPr lang="en-US" sz="1350" err="1">
                          <a:solidFill>
                            <a:srgbClr val="EEF0FF"/>
                          </a:solidFill>
                          <a:highlight>
                            <a:srgbClr val="1F1F1F"/>
                          </a:highlight>
                          <a:latin typeface="Arial"/>
                          <a:ea typeface="Arial"/>
                          <a:cs typeface="Arial"/>
                        </a:rPr>
                        <a:t>Kotanur</a:t>
                      </a:r>
                      <a:r>
                        <a:rPr lang="en-US" sz="1350">
                          <a:solidFill>
                            <a:srgbClr val="EEF0FF"/>
                          </a:solidFill>
                          <a:highlight>
                            <a:srgbClr val="1F1F1F"/>
                          </a:highlight>
                          <a:latin typeface="Arial"/>
                          <a:ea typeface="Arial"/>
                          <a:cs typeface="Arial"/>
                        </a:rPr>
                        <a:t> D MSK Mill Road Kalaburgi</a:t>
                      </a:r>
                      <a:r>
                        <a:rPr lang="en-US" sz="1350">
                          <a:solidFill>
                            <a:srgbClr val="EEF0FF"/>
                          </a:solidFill>
                          <a:highlight>
                            <a:srgbClr val="1F1F1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2023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Distinction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Graduation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BE CSE </a:t>
                      </a:r>
                      <a:r>
                        <a:rPr lang="en-US" sz="1800" err="1"/>
                        <a:t>IIIrd</a:t>
                      </a:r>
                      <a:r>
                        <a:rPr lang="en-US" sz="1800"/>
                        <a:t> year (P D A College of Engineering, Aiwan e shahi, Kalaburgi)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2027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7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PG and Higher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9" name="Google Shape;139;p22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75" y="1520850"/>
            <a:ext cx="91440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Rural Farmers Face Multiple Barriers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🌾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Access to Crop Knowledge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Farmers lack scientific information on crop selection, sowing season, soil suitability, pest management.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🪲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Loss due to Pests &amp; Diseases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Insufficient timely guidance leads to reduced yield and income.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💸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Unstable Market Prices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Farmers sell produce without knowing real-time district/state market rates → middlemen exploitation.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🧑‍🌾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Awareness of Biofertilizers/Organic Inputs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High cost of chemical fertilizers impacts sustainability and soil health.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📉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Socio-economic Impact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Lower productivity, higher input cost, reduced profits → poor standard of living in rural communities.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b="1">
              <a:solidFill>
                <a:srgbClr val="002060"/>
              </a:solidFill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4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75" y="1520850"/>
            <a:ext cx="91440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Solution – AgriBloom 2.0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Empowering Rural Communities with Data-Driven Farming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Pre-sowing Advisory Dashboard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Helps farmers choose best crop based on soil, water, season → reduces risk &amp; improves yield.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🪲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Insect &amp; Pest Management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Offers verified, low-cost official solutions → prevents major crop losses.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🌱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Biofertilizer &amp; Organic Guide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Promotes low-cost, sustainable inputs → improves soil health &amp; reduces dependency on chemicals.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💰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Market Prices (State/District)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Farmers get fair price awareness → reduces exploitation → increases income.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🧑‍💻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Farmer Dashboard &amp; Easy UI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Rural-friendly design, local language adaptability → accessible for low-literacy communities.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🌍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Socio-Economic Impact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Higher yield + better prices + lower input costs →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improved income, food security, and quality of life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rural areas.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5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5868144" y="116632"/>
            <a:ext cx="2808300" cy="3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539552" y="845116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Challenge / Problem</a:t>
            </a: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Rural farmers face multiple difficulties that limit productivity and income: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🌾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reliable crop knowledge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Most farmers do not have scientific information on the right crop to sow based on soil, climate, and season.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🪲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crop losses from pests &amp; diseases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Inadequate or delayed guidance reduces yield.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💸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Unfair and unstable market prices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Farmers are often unaware of real-time market rates and depend on middlemen.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🌱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Overuse of chemical fertilizers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Limited awareness of affordable biofertilizers leads to soil degradation and higher costs.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📉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socio-economic returns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Combined, these factors keep rural communities in a cycle of low income and poor standard of living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endParaRPr sz="2000" b="1">
              <a:solidFill>
                <a:srgbClr val="002060"/>
              </a:solidFill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6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Product/ Solution - Innovation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583792" y="1029101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 the Innovation – AgriBloom 2.0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AgriBloom 2.0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full-stack agriculture intelligence platform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empowers farmers with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 decisions before sowing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integrates multiple essential services into one unified dashboard: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AgriLens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Detailed crop advisory (100+ crops) including sowing season, soil, water, and sunlight requirements.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Insect &amp; Pest Management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Verified solutions to prevent losses.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Biofertilizer &amp; Organic Inputs Guide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Low-cost, eco-friendly alternatives to chemicals.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Market Prices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Fetches district &amp; state-level crop prices from official APIs.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Farmer Dashboard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Farmers can enter pre-sowing data, track trends, and get personalized recommendations.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endParaRPr/>
          </a:p>
        </p:txBody>
      </p:sp>
      <p:sp>
        <p:nvSpPr>
          <p:cNvPr id="168" name="Google Shape;168;p26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Product/ Solution - Innovation</a:t>
            </a:r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body" idx="1"/>
          </p:nvPr>
        </p:nvSpPr>
        <p:spPr>
          <a:xfrm>
            <a:off x="583792" y="1029101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Solves the Problems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🌱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crop choice &amp; yield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Farmers get scientific crop insights tailored to their soil and climate.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🪲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losses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Pest &amp; disease advisory minimizes damage.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💸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Increases income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Market price transparency helps farmers avoid middlemen exploitation.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🌍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Promotes sustainability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Biofertilizer guidance reduces input costs and improves soil health.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Empowers decision-making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Farmers use their own data (trends, costs, soil) to plan effectively.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5868144" y="116632"/>
            <a:ext cx="2808300" cy="3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Product/ Solution - Innovation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1"/>
          </p:nvPr>
        </p:nvSpPr>
        <p:spPr>
          <a:xfrm>
            <a:off x="583792" y="1029101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it First of Its Kind or Incremental?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AgriBloom 2.0 is an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incremental improvement over existing solutions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 with a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 value proposition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apps usually focus on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feature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market prices, pest management, or weather).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AgriBloom 2.0 uniquely combines all critical services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—advisory, pests, biofertilizers, prices, and dashboards—into a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integrated platform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focuses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sowing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while many solutions are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sowing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(post-harvest, crop selling).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5868144" y="116632"/>
            <a:ext cx="2808300" cy="3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Product/ Solution - Innovation</a:t>
            </a: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583792" y="1029101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It Unique? Why?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Yes, it is unique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because: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Holistic Approach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It addresses </a:t>
            </a:r>
            <a:r>
              <a:rPr lang="en-US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 + crop health + market + sustainability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one system.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Localized &amp; Farmer-friendly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Uses official APIs, role-based dashboards, and can support local languages.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Ease of Access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Works as a modern web app (and can extend to mobile/PWA), making it accessible even in rural low-resource settings.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Socio-economic Impact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Unlike single-purpose tools, AgriBloom 2.0 directly improves income, reduces costs, and enhances rural standard of living.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5868144" y="116632"/>
            <a:ext cx="2808300" cy="3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628650" y="2"/>
            <a:ext cx="7886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lang="en-US" sz="2400"/>
              <a:t>Market Landscape - Market Potential, Competitors</a:t>
            </a:r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622767" y="1175201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Revenue Model – Pricing &amp; Forecast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Pricing Strategy</a:t>
            </a: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7972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Freemium Model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tier → Basic crop advisory, limited crop price lookups.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Premium tier (₹100–₹150 / month per farmer) → Full dashboard access, personalized insights, pest/biofertilizer guidance, market analytics.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B2B SaaS Subscriptions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Agribusinesses, FPOs, cooperatives, NGOs, government projects.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Annual contracts (₹50,000 – ₹5,00,000 depending on farmer base size).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Marketplace Commission (Future)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1–3% commission on transactions if AgriBloom integrates input/output marketplace (fertilizers, seeds, produce selling).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Advertising / Partnerships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79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suppliers (biofertilizers, seeds, equipment) can advertise in-app in a farmer-friendly, ethical way.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5144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</p:txBody>
      </p:sp>
      <p:sp>
        <p:nvSpPr>
          <p:cNvPr id="196" name="Google Shape;196;p30"/>
          <p:cNvSpPr txBox="1"/>
          <p:nvPr/>
        </p:nvSpPr>
        <p:spPr>
          <a:xfrm>
            <a:off x="6876256" y="221760"/>
            <a:ext cx="2664300" cy="338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>
            <a:spLocks noGrp="1"/>
          </p:cNvSpPr>
          <p:nvPr>
            <p:ph type="title"/>
          </p:nvPr>
        </p:nvSpPr>
        <p:spPr>
          <a:xfrm>
            <a:off x="611560" y="-18850"/>
            <a:ext cx="597666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Implementation / Feasibility Strategy</a:t>
            </a:r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body" idx="1"/>
          </p:nvPr>
        </p:nvSpPr>
        <p:spPr>
          <a:xfrm>
            <a:off x="585491" y="1052736"/>
            <a:ext cx="7886700" cy="398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Implementation</a:t>
            </a: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Next.js (App Router), TailwindCSS, shadcn/ui.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Node.js + Express, MongoDB Atlas, JWT auth.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Govt. APIs for market prices (eNAM, Agmarknet).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Optional weather APIs for crop planning.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Farmer App/Portal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Role-based login (Farmer/Admin).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 forms for soil, water, seed type.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dashboards with charts.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 Tools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Trend analysis, farmer data insights, price trend monitoring.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>
            <a:spLocks noGrp="1"/>
          </p:cNvSpPr>
          <p:nvPr>
            <p:ph type="title"/>
          </p:nvPr>
        </p:nvSpPr>
        <p:spPr>
          <a:xfrm>
            <a:off x="639233" y="19799"/>
            <a:ext cx="7266301" cy="50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Calibri"/>
              <a:buNone/>
            </a:pPr>
            <a:r>
              <a:rPr lang="en-US"/>
              <a:t>Total Budget, Required Support</a:t>
            </a:r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1"/>
          </p:nvPr>
        </p:nvSpPr>
        <p:spPr>
          <a:xfrm>
            <a:off x="639233" y="1772816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Estimated Cost (INR)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/ Infrastructure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hosting (basic </a:t>
            </a:r>
            <a:r>
              <a:rPr lang="en-US" sz="120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/MongoDB free tier, domain, SSL, backup)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Resources &amp; Salaries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Stipends for 1–2 student developers / part-time agronomy advisor (short-term)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20,000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Outsourcing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setup (Govt. APIs are free, but minor integration services/tools)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Marketing &amp; Outreach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Farmer workshops in 1–2 villages, printing leaflets, WhatsApp campaigns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10,000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 &amp; Operations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Communication, travel, stationary, basic registrations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Contingency (10%)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Miscellaneous unexpected expenses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0909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50,000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lvl="0" indent="-1314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•"/>
            </a:pPr>
            <a:r>
              <a:rPr lang="en-US" sz="1800"/>
              <a:t> </a:t>
            </a:r>
            <a:endParaRPr sz="1800"/>
          </a:p>
        </p:txBody>
      </p:sp>
      <p:sp>
        <p:nvSpPr>
          <p:cNvPr id="210" name="Google Shape;210;p32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title"/>
          </p:nvPr>
        </p:nvSpPr>
        <p:spPr>
          <a:xfrm>
            <a:off x="631478" y="53732"/>
            <a:ext cx="2716386" cy="39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Project Milestones</a:t>
            </a:r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body" idx="1"/>
          </p:nvPr>
        </p:nvSpPr>
        <p:spPr>
          <a:xfrm>
            <a:off x="648551" y="1484784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Project Milestones &amp; Fund Utilisation (Assuming Funding Approved)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Phase 1: Pilot Development (Month 0–6)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Activities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Build MVP platform (core modules: AgriLens crop advisory, pest management, farmer dashboard).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Integrate government APIs for market prices.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Translate UI into 2–3 local languages.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Conduct pilot testing with 500–1,000 farmers in one district.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Fund Utilisation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Hardware/Infra: ₹5 Lakhs → Cloud setup, domain, servers.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Salaries/Resources: ₹15 Lakhs → Developers, agronomist, UI/UX.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Outreach: ₹3 Lakhs → Workshops, awareness sessions.</a:t>
            </a: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3144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Admin/Other: ₹2 Lakhs.</a:t>
            </a:r>
            <a:endParaRPr/>
          </a:p>
          <a:p>
            <a:pPr marL="171450" lvl="0" indent="-1314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14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5868144" y="116632"/>
            <a:ext cx="2808312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1478" y="53732"/>
            <a:ext cx="27165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Project Milestones</a:t>
            </a:r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body" idx="1"/>
          </p:nvPr>
        </p:nvSpPr>
        <p:spPr>
          <a:xfrm>
            <a:off x="648551" y="1484784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Phase 2: Expansion &amp; Adoption (Month 6–12)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Activities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Expand to 3–5 districts.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Add biofertilizer advisory module + trend analysis dashboards.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Collect farmer feedback to improve UX.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Launch training program in collaboration with FPOs &amp; NGOs.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Fund Utilisation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Resources &amp; Salaries: ₹20 Lakhs → Larger dev team, field coordinators.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Outreach &amp; Marketing: ₹8 Lakhs → Farmer onboarding, campaigns.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Infra: ₹5 Lakhs → Scale hosting &amp; storage.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Admin/Other: ₹2 Lakhs.</a:t>
            </a:r>
            <a:endParaRPr/>
          </a:p>
          <a:p>
            <a:pPr marL="171450" lvl="0" indent="-1414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15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226" name="Google Shape;226;p34"/>
          <p:cNvSpPr txBox="1"/>
          <p:nvPr/>
        </p:nvSpPr>
        <p:spPr>
          <a:xfrm>
            <a:off x="5868144" y="116632"/>
            <a:ext cx="2808300" cy="3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631478" y="53732"/>
            <a:ext cx="27165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Project Milestones</a:t>
            </a:r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body" idx="1"/>
          </p:nvPr>
        </p:nvSpPr>
        <p:spPr>
          <a:xfrm>
            <a:off x="648551" y="1484784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Phase 3: Growth &amp; Marketplace Integration (Month 12–18)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Activities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Integrate marketplace module (farmers connect to buyers/suppliers).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Expand to state-level adoption (50k+ farmers).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Add weather + soil data integration for precision farming.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Initiate freemium model (basic free, advanced paid).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Fund Utilisation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Resources &amp; Salaries: ₹25 Lakhs → Full-stack team, agriculture advisors.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Infra: ₹8 Lakhs → Scalable cloud infra, analytics tools.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Outreach: ₹10 Lakhs → Farmer training camps, mobile van demonstrations.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Admin/Other: ₹2 Lakhs.</a:t>
            </a:r>
            <a:endParaRPr/>
          </a:p>
          <a:p>
            <a:pPr marL="171450" lvl="0" indent="-1414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</p:txBody>
      </p:sp>
      <p:sp>
        <p:nvSpPr>
          <p:cNvPr id="233" name="Google Shape;233;p35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16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5868144" y="116632"/>
            <a:ext cx="2808300" cy="3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>
            <a:spLocks noGrp="1"/>
          </p:cNvSpPr>
          <p:nvPr>
            <p:ph type="title"/>
          </p:nvPr>
        </p:nvSpPr>
        <p:spPr>
          <a:xfrm>
            <a:off x="631478" y="53732"/>
            <a:ext cx="27165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Project Milestones</a:t>
            </a:r>
            <a:endParaRPr/>
          </a:p>
        </p:txBody>
      </p:sp>
      <p:sp>
        <p:nvSpPr>
          <p:cNvPr id="240" name="Google Shape;240;p36"/>
          <p:cNvSpPr txBox="1">
            <a:spLocks noGrp="1"/>
          </p:cNvSpPr>
          <p:nvPr>
            <p:ph type="body" idx="1"/>
          </p:nvPr>
        </p:nvSpPr>
        <p:spPr>
          <a:xfrm>
            <a:off x="648551" y="1484784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Phase 4: National Rollout &amp; Monetization (Month 18–24)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Activities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Roll out to multiple states, 500k+ farmers.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Partner with government schemes &amp; agri-input companies.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Launch mobile app/PWA offline mode.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Monetize via B2B tie-ups, premium subscriptions, marketplace commission.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Fund Utilisation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Salaries &amp; Resources: ₹30 Lakhs → Expanded dev + support team.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Infra: ₹10 Lakhs → Advanced hosting, security, multilingual data scaling.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Marketing &amp; Outreach: ₹15 Lakhs → Mass campaigns, FPO partnerships.</a:t>
            </a: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141446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Admin/Other: ₹5 Lakhs.</a:t>
            </a:r>
            <a:endParaRPr/>
          </a:p>
          <a:p>
            <a:pPr marL="171450" lvl="0" indent="-1414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ct val="100000"/>
              <a:buNone/>
            </a:pPr>
            <a:endParaRPr/>
          </a:p>
        </p:txBody>
      </p:sp>
      <p:sp>
        <p:nvSpPr>
          <p:cNvPr id="241" name="Google Shape;241;p36"/>
          <p:cNvSpPr txBox="1">
            <a:spLocks noGrp="1"/>
          </p:cNvSpPr>
          <p:nvPr>
            <p:ph type="sldNum" idx="12"/>
          </p:nvPr>
        </p:nvSpPr>
        <p:spPr>
          <a:xfrm>
            <a:off x="8724074" y="6492875"/>
            <a:ext cx="289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17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242" name="Google Shape;242;p36"/>
          <p:cNvSpPr txBox="1"/>
          <p:nvPr/>
        </p:nvSpPr>
        <p:spPr>
          <a:xfrm>
            <a:off x="5868144" y="116632"/>
            <a:ext cx="2808300" cy="3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Grassroot innovation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1753</Words>
  <Application>Microsoft Office PowerPoint</Application>
  <PresentationFormat>On-screen Show (4:3)</PresentationFormat>
  <Paragraphs>266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5_Office Theme</vt:lpstr>
      <vt:lpstr>AgriBloom 2.0  </vt:lpstr>
      <vt:lpstr>Introduction</vt:lpstr>
      <vt:lpstr>Educational Background</vt:lpstr>
      <vt:lpstr>PowerPoint Presentation</vt:lpstr>
      <vt:lpstr>PowerPoint Presentation</vt:lpstr>
      <vt:lpstr>Problem Statement</vt:lpstr>
      <vt:lpstr>Product/ Solution - Innovation</vt:lpstr>
      <vt:lpstr>Product/ Solution - Innovation</vt:lpstr>
      <vt:lpstr>Product/ Solution - Innovation</vt:lpstr>
      <vt:lpstr>Product/ Solution - Innovation</vt:lpstr>
      <vt:lpstr>Market Landscape - Market Potential, Competitors</vt:lpstr>
      <vt:lpstr>Implementation / Feasibility Strategy</vt:lpstr>
      <vt:lpstr>Total Budget, Required Support</vt:lpstr>
      <vt:lpstr>Project Milestones</vt:lpstr>
      <vt:lpstr>Project Milestones</vt:lpstr>
      <vt:lpstr>Project Milestones</vt:lpstr>
      <vt:lpstr>Project Milestones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AgriBloom Project Title </dc:title>
  <cp:lastModifiedBy>tf550559@gmail.com</cp:lastModifiedBy>
  <cp:revision>4</cp:revision>
  <dcterms:modified xsi:type="dcterms:W3CDTF">2025-09-11T14:41:45Z</dcterms:modified>
</cp:coreProperties>
</file>